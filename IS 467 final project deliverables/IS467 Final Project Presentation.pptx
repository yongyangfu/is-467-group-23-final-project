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ontserrat"/>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d4015013b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d4015013b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Andrew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this framework in place, we evaluated each System Card+ Fairness–Data area in order, beginning with B111 through B412.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150c98c6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150c98c6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d4015013b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d4015013b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d4015013b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d4015013b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d4015013b_7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d4015013b_7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d401501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d401501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Anishka (1.5 minute)</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d4015013b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d4015013b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d4015013b_5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d4015013b_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d4015013b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d4015013b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Using the System Card+ Fairness–Data framework, our evaluation demonstrates that the dataset, as currently documented, </a:t>
            </a:r>
            <a:r>
              <a:rPr b="1" lang="en">
                <a:solidFill>
                  <a:schemeClr val="dk1"/>
                </a:solidFill>
              </a:rPr>
              <a:t>does not meet the fairness expectations required for responsible operational deployment</a:t>
            </a:r>
            <a:r>
              <a:rPr lang="en">
                <a:solidFill>
                  <a:schemeClr val="dk1"/>
                </a:solidFill>
              </a:rPr>
              <a:t>. This conclusion is not a judgment on the dataset’s analytical usefulness, but rather the outcome of systematically applying our rubric across all Fairness–Data criteria.</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Across </a:t>
            </a:r>
            <a:r>
              <a:rPr b="1" lang="en">
                <a:solidFill>
                  <a:schemeClr val="dk1"/>
                </a:solidFill>
              </a:rPr>
              <a:t>B111–B412</a:t>
            </a:r>
            <a:r>
              <a:rPr lang="en">
                <a:solidFill>
                  <a:schemeClr val="dk1"/>
                </a:solidFill>
              </a:rPr>
              <a:t>, the dataset performed inconsistently: early sections such as Equity (B111) and Bias Detection (B112) showed partial strengths in metadata clarity and interpretability, while later sections—including Sampling Integrity (B113), Fairness Metrics (B114), Mitigation (B311–B312), and Assurance (B411–B412)—revealed substantial gaps in transparency, governance, documentation, and user-rights protections.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Taken together, our project demonstrates how structured fairness evaluation at the data layer provides insight not only into dataset limitations but also into the systemic responsibilities required for ethical AI development. This holistic assessment underscores the importance of transparent documentation, fairness-aware data practices, and governance mechanisms before such datasets can be safely deployed in real HR decision-making contexts.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d4015013b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d4015013b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IS 467 Final Project</a:t>
            </a:r>
            <a:endParaRPr/>
          </a:p>
        </p:txBody>
      </p:sp>
      <p:sp>
        <p:nvSpPr>
          <p:cNvPr id="135" name="Google Shape;135;p13"/>
          <p:cNvSpPr txBox="1"/>
          <p:nvPr>
            <p:ph idx="1" type="subTitle"/>
          </p:nvPr>
        </p:nvSpPr>
        <p:spPr>
          <a:xfrm>
            <a:off x="5083950" y="3924925"/>
            <a:ext cx="3470700" cy="67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Names</a:t>
            </a:r>
            <a:r>
              <a:rPr lang="en"/>
              <a:t>: Anishka, Suha, Andrew, Shravya</a:t>
            </a:r>
            <a:endParaRPr/>
          </a:p>
          <a:p>
            <a:pPr indent="0" lvl="0" marL="0" rtl="0" algn="l">
              <a:spcBef>
                <a:spcPts val="0"/>
              </a:spcBef>
              <a:spcAft>
                <a:spcPts val="0"/>
              </a:spcAft>
              <a:buNone/>
            </a:pPr>
            <a:r>
              <a:rPr b="1" lang="en"/>
              <a:t>Group 23</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03375" y="401350"/>
            <a:ext cx="7604400" cy="55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500"/>
              <a:t>Methodology</a:t>
            </a:r>
            <a:endParaRPr b="1" sz="2500"/>
          </a:p>
        </p:txBody>
      </p:sp>
      <p:sp>
        <p:nvSpPr>
          <p:cNvPr id="141" name="Google Shape;141;p14"/>
          <p:cNvSpPr txBox="1"/>
          <p:nvPr>
            <p:ph idx="1" type="body"/>
          </p:nvPr>
        </p:nvSpPr>
        <p:spPr>
          <a:xfrm>
            <a:off x="882475" y="1237429"/>
            <a:ext cx="7524900" cy="2911200"/>
          </a:xfrm>
          <a:prstGeom prst="rect">
            <a:avLst/>
          </a:prstGeom>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Our dataset: HR Analytics Dataset - A dataset of 1,470 employees with demographic and job-related attributes used to model attrition. Includes features like age, gender, income, job role, satisfaction, and overtime.</a:t>
            </a:r>
            <a:endParaRPr sz="1800"/>
          </a:p>
          <a:p>
            <a:pPr indent="-311150" lvl="0" marL="457200" rtl="0" algn="l">
              <a:spcBef>
                <a:spcPts val="0"/>
              </a:spcBef>
              <a:spcAft>
                <a:spcPts val="0"/>
              </a:spcAft>
              <a:buSzPts val="1300"/>
              <a:buChar char="●"/>
            </a:pPr>
            <a:r>
              <a:rPr lang="en"/>
              <a:t>We evaluated the dataset across all </a:t>
            </a:r>
            <a:r>
              <a:rPr b="1" lang="en"/>
              <a:t>Fairness–Data subsections (B111–B412)</a:t>
            </a:r>
            <a:r>
              <a:rPr lang="en"/>
              <a:t>, aligning rubric design with the Development, Assessment, Mitigation, and Assurance stages of System Card+</a:t>
            </a:r>
            <a:endParaRPr/>
          </a:p>
          <a:p>
            <a:pPr indent="-311150" lvl="0" marL="457200" rtl="0" algn="l">
              <a:spcBef>
                <a:spcPts val="0"/>
              </a:spcBef>
              <a:spcAft>
                <a:spcPts val="0"/>
              </a:spcAft>
              <a:buSzPts val="1300"/>
              <a:buChar char="●"/>
            </a:pPr>
            <a:r>
              <a:rPr lang="en"/>
              <a:t>For each criterion, we created a structured scoring table including a definition, an evaluation question, and a three-level scoring scale (+1, 0, –1).</a:t>
            </a:r>
            <a:endParaRPr/>
          </a:p>
          <a:p>
            <a:pPr indent="-311150" lvl="0" marL="457200" rtl="0" algn="l">
              <a:spcBef>
                <a:spcPts val="0"/>
              </a:spcBef>
              <a:spcAft>
                <a:spcPts val="0"/>
              </a:spcAft>
              <a:buSzPts val="1300"/>
              <a:buChar char="●"/>
            </a:pPr>
            <a:r>
              <a:rPr lang="en"/>
              <a:t>Scoring was grounded in </a:t>
            </a:r>
            <a:r>
              <a:rPr b="1" lang="en"/>
              <a:t>evidence from dataset documentation</a:t>
            </a:r>
            <a:r>
              <a:rPr lang="en"/>
              <a:t>, </a:t>
            </a:r>
            <a:r>
              <a:rPr b="1" lang="en"/>
              <a:t>exploratory data analysis</a:t>
            </a:r>
            <a:r>
              <a:rPr lang="en"/>
              <a:t>, and </a:t>
            </a:r>
            <a:r>
              <a:rPr b="1" lang="en"/>
              <a:t>observable structural patterns</a:t>
            </a:r>
            <a:r>
              <a:rPr lang="en"/>
              <a:t> (e.g., demographic imbalances, missingness, repeated IDs).</a:t>
            </a:r>
            <a:endParaRPr/>
          </a:p>
          <a:p>
            <a:pPr indent="-311150" lvl="0" marL="457200" rtl="0" algn="l">
              <a:spcBef>
                <a:spcPts val="0"/>
              </a:spcBef>
              <a:spcAft>
                <a:spcPts val="0"/>
              </a:spcAft>
              <a:buSzPts val="1300"/>
              <a:buChar char="●"/>
            </a:pPr>
            <a:r>
              <a:rPr lang="en"/>
              <a:t>All code, analyses, and outputs (charts, tables, CSVs) were developed in a </a:t>
            </a:r>
            <a:r>
              <a:rPr b="1" lang="en"/>
              <a:t>fully reproducible pipeline</a:t>
            </a:r>
            <a:r>
              <a:rPr lang="en"/>
              <a:t> hosted on our GitHub repository.</a:t>
            </a:r>
            <a:endParaRPr/>
          </a:p>
        </p:txBody>
      </p:sp>
      <p:pic>
        <p:nvPicPr>
          <p:cNvPr id="142" name="Google Shape;142;p14" title="Screenshot 2025-12-03 at 5.36.08 PM.png"/>
          <p:cNvPicPr preferRelativeResize="0"/>
          <p:nvPr/>
        </p:nvPicPr>
        <p:blipFill rotWithShape="1">
          <a:blip r:embed="rId3">
            <a:alphaModFix/>
          </a:blip>
          <a:srcRect b="0" l="0" r="0" t="39239"/>
          <a:stretch/>
        </p:blipFill>
        <p:spPr>
          <a:xfrm>
            <a:off x="809588" y="3857075"/>
            <a:ext cx="7524826" cy="1092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58747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B111, B112, B113, and B114 Overview</a:t>
            </a:r>
            <a:endParaRPr b="1"/>
          </a:p>
          <a:p>
            <a:pPr indent="0" lvl="0" marL="0" rtl="0" algn="l">
              <a:spcBef>
                <a:spcPts val="0"/>
              </a:spcBef>
              <a:spcAft>
                <a:spcPts val="0"/>
              </a:spcAft>
              <a:buNone/>
            </a:pPr>
            <a:r>
              <a:rPr b="1" lang="en"/>
              <a:t>Development</a:t>
            </a:r>
            <a:endParaRPr b="1"/>
          </a:p>
          <a:p>
            <a:pPr indent="0" lvl="0" marL="0" rtl="0" algn="l">
              <a:spcBef>
                <a:spcPts val="0"/>
              </a:spcBef>
              <a:spcAft>
                <a:spcPts val="0"/>
              </a:spcAft>
              <a:buNone/>
            </a:pPr>
            <a:r>
              <a:t/>
            </a:r>
            <a:endParaRPr b="1"/>
          </a:p>
        </p:txBody>
      </p:sp>
      <p:sp>
        <p:nvSpPr>
          <p:cNvPr id="148" name="Google Shape;148;p15"/>
          <p:cNvSpPr/>
          <p:nvPr/>
        </p:nvSpPr>
        <p:spPr>
          <a:xfrm>
            <a:off x="434914" y="1640026"/>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B111</a:t>
            </a:r>
            <a:r>
              <a:rPr lang="en">
                <a:solidFill>
                  <a:schemeClr val="dk1"/>
                </a:solidFill>
                <a:latin typeface="Lato"/>
                <a:ea typeface="Lato"/>
                <a:cs typeface="Lato"/>
                <a:sym typeface="Lato"/>
              </a:rPr>
              <a:t>: </a:t>
            </a:r>
            <a:r>
              <a:rPr b="1" lang="en">
                <a:solidFill>
                  <a:schemeClr val="dk1"/>
                </a:solidFill>
                <a:latin typeface="Lato"/>
                <a:ea typeface="Lato"/>
                <a:cs typeface="Lato"/>
                <a:sym typeface="Lato"/>
              </a:rPr>
              <a:t>Equity </a:t>
            </a:r>
            <a:endParaRPr b="1">
              <a:solidFill>
                <a:schemeClr val="dk1"/>
              </a:solidFill>
              <a:latin typeface="Lato"/>
              <a:ea typeface="Lato"/>
              <a:cs typeface="Lato"/>
              <a:sym typeface="Lato"/>
            </a:endParaRPr>
          </a:p>
        </p:txBody>
      </p:sp>
      <p:sp>
        <p:nvSpPr>
          <p:cNvPr id="149" name="Google Shape;149;p15"/>
          <p:cNvSpPr/>
          <p:nvPr/>
        </p:nvSpPr>
        <p:spPr>
          <a:xfrm>
            <a:off x="434914" y="2469176"/>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B112</a:t>
            </a:r>
            <a:r>
              <a:rPr lang="en">
                <a:solidFill>
                  <a:schemeClr val="dk1"/>
                </a:solidFill>
                <a:latin typeface="Lato"/>
                <a:ea typeface="Lato"/>
                <a:cs typeface="Lato"/>
                <a:sym typeface="Lato"/>
              </a:rPr>
              <a:t>:</a:t>
            </a:r>
            <a:endParaRPr>
              <a:solidFill>
                <a:schemeClr val="dk1"/>
              </a:solidFill>
              <a:latin typeface="Lato"/>
              <a:ea typeface="Lato"/>
              <a:cs typeface="Lato"/>
              <a:sym typeface="Lato"/>
            </a:endParaRPr>
          </a:p>
          <a:p>
            <a:pPr indent="0" lvl="0" marL="0" rtl="0" algn="ctr">
              <a:spcBef>
                <a:spcPts val="0"/>
              </a:spcBef>
              <a:spcAft>
                <a:spcPts val="0"/>
              </a:spcAft>
              <a:buNone/>
            </a:pPr>
            <a:r>
              <a:rPr b="1" lang="en">
                <a:solidFill>
                  <a:schemeClr val="dk1"/>
                </a:solidFill>
                <a:latin typeface="Lato"/>
                <a:ea typeface="Lato"/>
                <a:cs typeface="Lato"/>
                <a:sym typeface="Lato"/>
              </a:rPr>
              <a:t>Bias Detection</a:t>
            </a:r>
            <a:endParaRPr b="1">
              <a:solidFill>
                <a:schemeClr val="dk1"/>
              </a:solidFill>
              <a:latin typeface="Lato"/>
              <a:ea typeface="Lato"/>
              <a:cs typeface="Lato"/>
              <a:sym typeface="Lato"/>
            </a:endParaRPr>
          </a:p>
        </p:txBody>
      </p:sp>
      <p:sp>
        <p:nvSpPr>
          <p:cNvPr id="150" name="Google Shape;150;p15"/>
          <p:cNvSpPr/>
          <p:nvPr/>
        </p:nvSpPr>
        <p:spPr>
          <a:xfrm>
            <a:off x="434914" y="3298326"/>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B113</a:t>
            </a:r>
            <a:r>
              <a:rPr lang="en">
                <a:solidFill>
                  <a:schemeClr val="dk1"/>
                </a:solidFill>
                <a:latin typeface="Lato"/>
                <a:ea typeface="Lato"/>
                <a:cs typeface="Lato"/>
                <a:sym typeface="Lato"/>
              </a:rPr>
              <a:t>:</a:t>
            </a:r>
            <a:endParaRPr>
              <a:solidFill>
                <a:schemeClr val="dk1"/>
              </a:solidFill>
              <a:latin typeface="Lato"/>
              <a:ea typeface="Lato"/>
              <a:cs typeface="Lato"/>
              <a:sym typeface="Lato"/>
            </a:endParaRPr>
          </a:p>
          <a:p>
            <a:pPr indent="0" lvl="0" marL="0" rtl="0" algn="ctr">
              <a:spcBef>
                <a:spcPts val="0"/>
              </a:spcBef>
              <a:spcAft>
                <a:spcPts val="0"/>
              </a:spcAft>
              <a:buNone/>
            </a:pPr>
            <a:r>
              <a:rPr b="1" lang="en">
                <a:solidFill>
                  <a:schemeClr val="dk1"/>
                </a:solidFill>
                <a:latin typeface="Lato"/>
                <a:ea typeface="Lato"/>
                <a:cs typeface="Lato"/>
                <a:sym typeface="Lato"/>
              </a:rPr>
              <a:t>Sampling Integrity</a:t>
            </a:r>
            <a:endParaRPr b="1">
              <a:solidFill>
                <a:schemeClr val="dk1"/>
              </a:solidFill>
              <a:latin typeface="Lato"/>
              <a:ea typeface="Lato"/>
              <a:cs typeface="Lato"/>
              <a:sym typeface="Lato"/>
            </a:endParaRPr>
          </a:p>
        </p:txBody>
      </p:sp>
      <p:sp>
        <p:nvSpPr>
          <p:cNvPr id="151" name="Google Shape;151;p15"/>
          <p:cNvSpPr/>
          <p:nvPr/>
        </p:nvSpPr>
        <p:spPr>
          <a:xfrm>
            <a:off x="1825276" y="1640025"/>
            <a:ext cx="34662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Lato"/>
                <a:ea typeface="Lato"/>
                <a:cs typeface="Lato"/>
                <a:sym typeface="Lato"/>
              </a:rPr>
              <a:t>Evaluates data source documentation, purpose disclosure, metadata availability, sampling visibility, and error and limitations.</a:t>
            </a:r>
            <a:endParaRPr sz="1100">
              <a:solidFill>
                <a:schemeClr val="lt1"/>
              </a:solidFill>
              <a:latin typeface="Lato"/>
              <a:ea typeface="Lato"/>
              <a:cs typeface="Lato"/>
              <a:sym typeface="Lato"/>
            </a:endParaRPr>
          </a:p>
        </p:txBody>
      </p:sp>
      <p:sp>
        <p:nvSpPr>
          <p:cNvPr id="152" name="Google Shape;152;p15"/>
          <p:cNvSpPr/>
          <p:nvPr/>
        </p:nvSpPr>
        <p:spPr>
          <a:xfrm>
            <a:off x="1825276" y="2472925"/>
            <a:ext cx="34662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rPr lang="en" sz="1100">
                <a:solidFill>
                  <a:schemeClr val="lt1"/>
                </a:solidFill>
                <a:latin typeface="Lato"/>
                <a:ea typeface="Lato"/>
                <a:cs typeface="Lato"/>
                <a:sym typeface="Lato"/>
              </a:rPr>
              <a:t>Evaluates representation balance, feature bias screening, outcome disparity checks, missing data pattern analysis, and bias flag reporting.</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p:txBody>
      </p:sp>
      <p:sp>
        <p:nvSpPr>
          <p:cNvPr id="153" name="Google Shape;153;p15"/>
          <p:cNvSpPr/>
          <p:nvPr/>
        </p:nvSpPr>
        <p:spPr>
          <a:xfrm>
            <a:off x="1825276" y="3305825"/>
            <a:ext cx="34662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rPr lang="en" sz="1100">
                <a:solidFill>
                  <a:schemeClr val="lt1"/>
                </a:solidFill>
                <a:latin typeface="Lato"/>
                <a:ea typeface="Lato"/>
                <a:cs typeface="Lato"/>
                <a:sym typeface="Lato"/>
              </a:rPr>
              <a:t>Looks at sampling frame clarity, inclusion and exclusion rules, coverage of key subgroups, sampling method transparency, and oversampling/correction strategy</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p:txBody>
      </p:sp>
      <p:sp>
        <p:nvSpPr>
          <p:cNvPr id="154" name="Google Shape;154;p15"/>
          <p:cNvSpPr/>
          <p:nvPr/>
        </p:nvSpPr>
        <p:spPr>
          <a:xfrm>
            <a:off x="5424739" y="1640026"/>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Lato"/>
                <a:ea typeface="Lato"/>
                <a:cs typeface="Lato"/>
                <a:sym typeface="Lato"/>
              </a:rPr>
              <a:t>0, +1, +1, –1, –1 ; </a:t>
            </a:r>
            <a:r>
              <a:rPr b="1" lang="en" sz="1300">
                <a:solidFill>
                  <a:schemeClr val="dk1"/>
                </a:solidFill>
                <a:latin typeface="Lato"/>
                <a:ea typeface="Lato"/>
                <a:cs typeface="Lato"/>
                <a:sym typeface="Lato"/>
              </a:rPr>
              <a:t>Sum = 0</a:t>
            </a:r>
            <a:endParaRPr b="1" sz="1300">
              <a:solidFill>
                <a:schemeClr val="dk1"/>
              </a:solidFill>
              <a:latin typeface="Lato"/>
              <a:ea typeface="Lato"/>
              <a:cs typeface="Lato"/>
              <a:sym typeface="Lato"/>
            </a:endParaRPr>
          </a:p>
        </p:txBody>
      </p:sp>
      <p:sp>
        <p:nvSpPr>
          <p:cNvPr id="155" name="Google Shape;155;p15"/>
          <p:cNvSpPr/>
          <p:nvPr/>
        </p:nvSpPr>
        <p:spPr>
          <a:xfrm>
            <a:off x="5424739" y="2469176"/>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Lato"/>
                <a:ea typeface="Lato"/>
                <a:cs typeface="Lato"/>
                <a:sym typeface="Lato"/>
              </a:rPr>
              <a:t>0, –1, 0, 0, –1 ; </a:t>
            </a:r>
            <a:r>
              <a:rPr b="1" lang="en">
                <a:solidFill>
                  <a:schemeClr val="dk1"/>
                </a:solidFill>
                <a:latin typeface="Lato"/>
                <a:ea typeface="Lato"/>
                <a:cs typeface="Lato"/>
                <a:sym typeface="Lato"/>
              </a:rPr>
              <a:t>Sum = –2</a:t>
            </a:r>
            <a:endParaRPr b="1" u="sng">
              <a:solidFill>
                <a:schemeClr val="dk1"/>
              </a:solidFill>
              <a:latin typeface="Lato"/>
              <a:ea typeface="Lato"/>
              <a:cs typeface="Lato"/>
              <a:sym typeface="Lato"/>
            </a:endParaRPr>
          </a:p>
        </p:txBody>
      </p:sp>
      <p:sp>
        <p:nvSpPr>
          <p:cNvPr id="156" name="Google Shape;156;p15"/>
          <p:cNvSpPr/>
          <p:nvPr/>
        </p:nvSpPr>
        <p:spPr>
          <a:xfrm>
            <a:off x="5424739" y="3298326"/>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Lato"/>
                <a:ea typeface="Lato"/>
                <a:cs typeface="Lato"/>
                <a:sym typeface="Lato"/>
              </a:rPr>
              <a:t>–1, –1, 0, –1, –1 ; </a:t>
            </a:r>
            <a:r>
              <a:rPr b="1" lang="en" sz="1300">
                <a:solidFill>
                  <a:schemeClr val="dk1"/>
                </a:solidFill>
                <a:latin typeface="Lato"/>
                <a:ea typeface="Lato"/>
                <a:cs typeface="Lato"/>
                <a:sym typeface="Lato"/>
              </a:rPr>
              <a:t>Sum = –4</a:t>
            </a:r>
            <a:endParaRPr b="1" sz="1300">
              <a:solidFill>
                <a:schemeClr val="dk1"/>
              </a:solidFill>
              <a:latin typeface="Lato"/>
              <a:ea typeface="Lato"/>
              <a:cs typeface="Lato"/>
              <a:sym typeface="Lato"/>
            </a:endParaRPr>
          </a:p>
        </p:txBody>
      </p:sp>
      <p:pic>
        <p:nvPicPr>
          <p:cNvPr id="157" name="Google Shape;157;p15"/>
          <p:cNvPicPr preferRelativeResize="0"/>
          <p:nvPr/>
        </p:nvPicPr>
        <p:blipFill rotWithShape="1">
          <a:blip r:embed="rId3">
            <a:alphaModFix/>
          </a:blip>
          <a:srcRect b="0" l="30747" r="0" t="0"/>
          <a:stretch/>
        </p:blipFill>
        <p:spPr>
          <a:xfrm>
            <a:off x="6414625" y="366688"/>
            <a:ext cx="2633525" cy="1110483"/>
          </a:xfrm>
          <a:prstGeom prst="rect">
            <a:avLst/>
          </a:prstGeom>
          <a:noFill/>
          <a:ln>
            <a:noFill/>
          </a:ln>
        </p:spPr>
      </p:pic>
      <p:sp>
        <p:nvSpPr>
          <p:cNvPr id="158" name="Google Shape;158;p15"/>
          <p:cNvSpPr/>
          <p:nvPr/>
        </p:nvSpPr>
        <p:spPr>
          <a:xfrm>
            <a:off x="434914" y="4127476"/>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B114</a:t>
            </a:r>
            <a:r>
              <a:rPr lang="en">
                <a:solidFill>
                  <a:schemeClr val="dk1"/>
                </a:solidFill>
                <a:latin typeface="Lato"/>
                <a:ea typeface="Lato"/>
                <a:cs typeface="Lato"/>
                <a:sym typeface="Lato"/>
              </a:rPr>
              <a:t>:</a:t>
            </a:r>
            <a:endParaRPr>
              <a:solidFill>
                <a:schemeClr val="dk1"/>
              </a:solidFill>
              <a:latin typeface="Lato"/>
              <a:ea typeface="Lato"/>
              <a:cs typeface="Lato"/>
              <a:sym typeface="Lato"/>
            </a:endParaRPr>
          </a:p>
          <a:p>
            <a:pPr indent="0" lvl="0" marL="0" rtl="0" algn="ctr">
              <a:spcBef>
                <a:spcPts val="0"/>
              </a:spcBef>
              <a:spcAft>
                <a:spcPts val="0"/>
              </a:spcAft>
              <a:buNone/>
            </a:pPr>
            <a:r>
              <a:rPr b="1" lang="en">
                <a:solidFill>
                  <a:schemeClr val="dk1"/>
                </a:solidFill>
                <a:latin typeface="Lato"/>
                <a:ea typeface="Lato"/>
                <a:cs typeface="Lato"/>
                <a:sym typeface="Lato"/>
              </a:rPr>
              <a:t>Fairness Metrics</a:t>
            </a:r>
            <a:endParaRPr b="1">
              <a:solidFill>
                <a:schemeClr val="dk1"/>
              </a:solidFill>
              <a:latin typeface="Lato"/>
              <a:ea typeface="Lato"/>
              <a:cs typeface="Lato"/>
              <a:sym typeface="Lato"/>
            </a:endParaRPr>
          </a:p>
        </p:txBody>
      </p:sp>
      <p:sp>
        <p:nvSpPr>
          <p:cNvPr id="159" name="Google Shape;159;p15"/>
          <p:cNvSpPr/>
          <p:nvPr/>
        </p:nvSpPr>
        <p:spPr>
          <a:xfrm>
            <a:off x="1825276" y="4134975"/>
            <a:ext cx="34662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rPr lang="en" sz="1100">
                <a:solidFill>
                  <a:schemeClr val="lt1"/>
                </a:solidFill>
                <a:latin typeface="Lato"/>
                <a:ea typeface="Lato"/>
                <a:cs typeface="Lato"/>
                <a:sym typeface="Lato"/>
              </a:rPr>
              <a:t>Examines if fairness metrics are defined, metric justification, group comparison reporting, threshold and cutoff transparency, and metric limitations disclosure</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p:txBody>
      </p:sp>
      <p:sp>
        <p:nvSpPr>
          <p:cNvPr id="160" name="Google Shape;160;p15"/>
          <p:cNvSpPr/>
          <p:nvPr/>
        </p:nvSpPr>
        <p:spPr>
          <a:xfrm>
            <a:off x="5424739" y="4127476"/>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Lato"/>
                <a:ea typeface="Lato"/>
                <a:cs typeface="Lato"/>
                <a:sym typeface="Lato"/>
              </a:rPr>
              <a:t>–1, –1, –1, –1, –1 ; </a:t>
            </a:r>
            <a:r>
              <a:rPr b="1" lang="en">
                <a:solidFill>
                  <a:schemeClr val="dk1"/>
                </a:solidFill>
                <a:latin typeface="Lato"/>
                <a:ea typeface="Lato"/>
                <a:cs typeface="Lato"/>
                <a:sym typeface="Lato"/>
              </a:rPr>
              <a:t>Sum = –5</a:t>
            </a:r>
            <a:endParaRPr b="1">
              <a:solidFill>
                <a:schemeClr val="dk1"/>
              </a:solidFill>
              <a:latin typeface="Lato"/>
              <a:ea typeface="Lato"/>
              <a:cs typeface="Lato"/>
              <a:sym typeface="Lato"/>
            </a:endParaRPr>
          </a:p>
        </p:txBody>
      </p:sp>
      <p:sp>
        <p:nvSpPr>
          <p:cNvPr id="161" name="Google Shape;161;p15"/>
          <p:cNvSpPr/>
          <p:nvPr/>
        </p:nvSpPr>
        <p:spPr>
          <a:xfrm>
            <a:off x="7191150" y="1667300"/>
            <a:ext cx="1857000" cy="3134100"/>
          </a:xfrm>
          <a:prstGeom prst="rect">
            <a:avLst/>
          </a:prstGeom>
          <a:solidFill>
            <a:srgbClr val="03204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Lato"/>
                <a:ea typeface="Lato"/>
                <a:cs typeface="Lato"/>
                <a:sym typeface="Lato"/>
              </a:rPr>
              <a:t>The results show that the dataset provides only basic information and lacks the documentation needed for fair data practices. </a:t>
            </a:r>
            <a:endParaRPr sz="1100">
              <a:solidFill>
                <a:schemeClr val="lt1"/>
              </a:solidFill>
              <a:latin typeface="Lato"/>
              <a:ea typeface="Lato"/>
              <a:cs typeface="Lato"/>
              <a:sym typeface="Lato"/>
            </a:endParaRPr>
          </a:p>
          <a:p>
            <a:pPr indent="0" lvl="0" marL="0" rtl="0" algn="ctr">
              <a:spcBef>
                <a:spcPts val="0"/>
              </a:spcBef>
              <a:spcAft>
                <a:spcPts val="0"/>
              </a:spcAft>
              <a:buNone/>
            </a:pPr>
            <a:r>
              <a:rPr lang="en" sz="1100">
                <a:solidFill>
                  <a:schemeClr val="lt1"/>
                </a:solidFill>
                <a:latin typeface="Lato"/>
                <a:ea typeface="Lato"/>
                <a:cs typeface="Lato"/>
                <a:sym typeface="Lato"/>
              </a:rPr>
              <a:t>Key elements like sampling details, limitation reporting, and built-in fairness checks are missing, making it difficult to judge whether the data represents groups accurately or evenly. </a:t>
            </a:r>
            <a:endParaRPr sz="1100">
              <a:solidFill>
                <a:schemeClr val="lt1"/>
              </a:solidFill>
              <a:latin typeface="Lato"/>
              <a:ea typeface="Lato"/>
              <a:cs typeface="Lato"/>
              <a:sym typeface="Lato"/>
            </a:endParaRPr>
          </a:p>
          <a:p>
            <a:pPr indent="0" lvl="0" marL="0" rtl="0" algn="ctr">
              <a:spcBef>
                <a:spcPts val="0"/>
              </a:spcBef>
              <a:spcAft>
                <a:spcPts val="0"/>
              </a:spcAft>
              <a:buNone/>
            </a:pPr>
            <a:r>
              <a:rPr lang="en" sz="1100">
                <a:solidFill>
                  <a:schemeClr val="lt1"/>
                </a:solidFill>
                <a:latin typeface="Lato"/>
                <a:ea typeface="Lato"/>
                <a:cs typeface="Lato"/>
                <a:sym typeface="Lato"/>
              </a:rPr>
              <a:t>Overall, the dataset falls short of core expectations for fairness at the data level.</a:t>
            </a:r>
            <a:endParaRPr sz="11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6"/>
          <p:cNvSpPr txBox="1"/>
          <p:nvPr>
            <p:ph type="title"/>
          </p:nvPr>
        </p:nvSpPr>
        <p:spPr>
          <a:xfrm>
            <a:off x="1297500" y="58747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B211, B212, and B311 Overview</a:t>
            </a:r>
            <a:endParaRPr b="1"/>
          </a:p>
        </p:txBody>
      </p:sp>
      <p:pic>
        <p:nvPicPr>
          <p:cNvPr id="167" name="Google Shape;167;p16" title="Screenshot 2025-12-03 at 5.36.08 PM.png"/>
          <p:cNvPicPr preferRelativeResize="0"/>
          <p:nvPr/>
        </p:nvPicPr>
        <p:blipFill rotWithShape="1">
          <a:blip r:embed="rId3">
            <a:alphaModFix/>
          </a:blip>
          <a:srcRect b="4617" l="36540" r="24265" t="63492"/>
          <a:stretch/>
        </p:blipFill>
        <p:spPr>
          <a:xfrm>
            <a:off x="1547825" y="1488025"/>
            <a:ext cx="5023576" cy="976197"/>
          </a:xfrm>
          <a:prstGeom prst="rect">
            <a:avLst/>
          </a:prstGeom>
          <a:noFill/>
          <a:ln cap="flat" cmpd="sng" w="19050">
            <a:solidFill>
              <a:schemeClr val="lt2"/>
            </a:solidFill>
            <a:prstDash val="solid"/>
            <a:round/>
            <a:headEnd len="sm" w="sm" type="none"/>
            <a:tailEnd len="sm" w="sm" type="none"/>
          </a:ln>
        </p:spPr>
      </p:pic>
      <p:sp>
        <p:nvSpPr>
          <p:cNvPr id="168" name="Google Shape;168;p16"/>
          <p:cNvSpPr/>
          <p:nvPr/>
        </p:nvSpPr>
        <p:spPr>
          <a:xfrm>
            <a:off x="157475" y="2582275"/>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B211</a:t>
            </a:r>
            <a:r>
              <a:rPr lang="en">
                <a:solidFill>
                  <a:schemeClr val="dk1"/>
                </a:solidFill>
                <a:latin typeface="Lato"/>
                <a:ea typeface="Lato"/>
                <a:cs typeface="Lato"/>
                <a:sym typeface="Lato"/>
              </a:rPr>
              <a:t>: </a:t>
            </a:r>
            <a:r>
              <a:rPr b="1" lang="en">
                <a:solidFill>
                  <a:schemeClr val="dk1"/>
                </a:solidFill>
                <a:latin typeface="Lato"/>
                <a:ea typeface="Lato"/>
                <a:cs typeface="Lato"/>
                <a:sym typeface="Lato"/>
              </a:rPr>
              <a:t>Fairness</a:t>
            </a:r>
            <a:endParaRPr b="1">
              <a:solidFill>
                <a:schemeClr val="dk1"/>
              </a:solidFill>
              <a:latin typeface="Lato"/>
              <a:ea typeface="Lato"/>
              <a:cs typeface="Lato"/>
              <a:sym typeface="Lato"/>
            </a:endParaRPr>
          </a:p>
        </p:txBody>
      </p:sp>
      <p:sp>
        <p:nvSpPr>
          <p:cNvPr id="169" name="Google Shape;169;p16"/>
          <p:cNvSpPr/>
          <p:nvPr/>
        </p:nvSpPr>
        <p:spPr>
          <a:xfrm>
            <a:off x="157475" y="3411425"/>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B212</a:t>
            </a:r>
            <a:r>
              <a:rPr lang="en">
                <a:solidFill>
                  <a:schemeClr val="dk1"/>
                </a:solidFill>
                <a:latin typeface="Lato"/>
                <a:ea typeface="Lato"/>
                <a:cs typeface="Lato"/>
                <a:sym typeface="Lato"/>
              </a:rPr>
              <a:t>:</a:t>
            </a:r>
            <a:endParaRPr>
              <a:solidFill>
                <a:schemeClr val="dk1"/>
              </a:solidFill>
              <a:latin typeface="Lato"/>
              <a:ea typeface="Lato"/>
              <a:cs typeface="Lato"/>
              <a:sym typeface="Lato"/>
            </a:endParaRPr>
          </a:p>
          <a:p>
            <a:pPr indent="0" lvl="0" marL="0" rtl="0" algn="ctr">
              <a:spcBef>
                <a:spcPts val="0"/>
              </a:spcBef>
              <a:spcAft>
                <a:spcPts val="0"/>
              </a:spcAft>
              <a:buNone/>
            </a:pPr>
            <a:r>
              <a:rPr b="1" lang="en">
                <a:solidFill>
                  <a:schemeClr val="dk1"/>
                </a:solidFill>
                <a:latin typeface="Lato"/>
                <a:ea typeface="Lato"/>
                <a:cs typeface="Lato"/>
                <a:sym typeface="Lato"/>
              </a:rPr>
              <a:t>Impact</a:t>
            </a:r>
            <a:endParaRPr b="1">
              <a:solidFill>
                <a:schemeClr val="dk1"/>
              </a:solidFill>
              <a:latin typeface="Lato"/>
              <a:ea typeface="Lato"/>
              <a:cs typeface="Lato"/>
              <a:sym typeface="Lato"/>
            </a:endParaRPr>
          </a:p>
        </p:txBody>
      </p:sp>
      <p:sp>
        <p:nvSpPr>
          <p:cNvPr id="170" name="Google Shape;170;p16"/>
          <p:cNvSpPr/>
          <p:nvPr/>
        </p:nvSpPr>
        <p:spPr>
          <a:xfrm>
            <a:off x="157475" y="4240575"/>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B311</a:t>
            </a:r>
            <a:r>
              <a:rPr lang="en">
                <a:solidFill>
                  <a:schemeClr val="dk1"/>
                </a:solidFill>
                <a:latin typeface="Lato"/>
                <a:ea typeface="Lato"/>
                <a:cs typeface="Lato"/>
                <a:sym typeface="Lato"/>
              </a:rPr>
              <a:t>:</a:t>
            </a:r>
            <a:endParaRPr>
              <a:solidFill>
                <a:schemeClr val="dk1"/>
              </a:solidFill>
              <a:latin typeface="Lato"/>
              <a:ea typeface="Lato"/>
              <a:cs typeface="Lato"/>
              <a:sym typeface="Lato"/>
            </a:endParaRPr>
          </a:p>
          <a:p>
            <a:pPr indent="0" lvl="0" marL="0" rtl="0" algn="ctr">
              <a:spcBef>
                <a:spcPts val="0"/>
              </a:spcBef>
              <a:spcAft>
                <a:spcPts val="0"/>
              </a:spcAft>
              <a:buNone/>
            </a:pPr>
            <a:r>
              <a:rPr b="1" lang="en">
                <a:solidFill>
                  <a:schemeClr val="dk1"/>
                </a:solidFill>
                <a:latin typeface="Lato"/>
                <a:ea typeface="Lato"/>
                <a:cs typeface="Lato"/>
                <a:sym typeface="Lato"/>
              </a:rPr>
              <a:t>Bias</a:t>
            </a:r>
            <a:endParaRPr b="1">
              <a:solidFill>
                <a:schemeClr val="dk1"/>
              </a:solidFill>
              <a:latin typeface="Lato"/>
              <a:ea typeface="Lato"/>
              <a:cs typeface="Lato"/>
              <a:sym typeface="Lato"/>
            </a:endParaRPr>
          </a:p>
        </p:txBody>
      </p:sp>
      <p:sp>
        <p:nvSpPr>
          <p:cNvPr id="171" name="Google Shape;171;p16"/>
          <p:cNvSpPr/>
          <p:nvPr/>
        </p:nvSpPr>
        <p:spPr>
          <a:xfrm>
            <a:off x="1547825" y="2582275"/>
            <a:ext cx="33834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Lato"/>
                <a:ea typeface="Lato"/>
                <a:cs typeface="Lato"/>
                <a:sym typeface="Lato"/>
              </a:rPr>
              <a:t>Evaluates imbalance, structural bias, sensitive attributes, label quality, sampling transparency, and readiness to address issues.</a:t>
            </a:r>
            <a:endParaRPr sz="1100">
              <a:solidFill>
                <a:schemeClr val="lt1"/>
              </a:solidFill>
              <a:latin typeface="Lato"/>
              <a:ea typeface="Lato"/>
              <a:cs typeface="Lato"/>
              <a:sym typeface="Lato"/>
            </a:endParaRPr>
          </a:p>
        </p:txBody>
      </p:sp>
      <p:sp>
        <p:nvSpPr>
          <p:cNvPr id="172" name="Google Shape;172;p16"/>
          <p:cNvSpPr/>
          <p:nvPr/>
        </p:nvSpPr>
        <p:spPr>
          <a:xfrm>
            <a:off x="1547825" y="3415175"/>
            <a:ext cx="33834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Lato"/>
                <a:ea typeface="Lato"/>
                <a:cs typeface="Lato"/>
                <a:sym typeface="Lato"/>
              </a:rPr>
              <a:t>Examines how data decisions affect different groups, including risks, missingness, assumptions, and potential harm.</a:t>
            </a:r>
            <a:endParaRPr sz="1100">
              <a:solidFill>
                <a:schemeClr val="lt1"/>
              </a:solidFill>
              <a:latin typeface="Lato"/>
              <a:ea typeface="Lato"/>
              <a:cs typeface="Lato"/>
              <a:sym typeface="Lato"/>
            </a:endParaRPr>
          </a:p>
        </p:txBody>
      </p:sp>
      <p:sp>
        <p:nvSpPr>
          <p:cNvPr id="173" name="Google Shape;173;p16"/>
          <p:cNvSpPr/>
          <p:nvPr/>
        </p:nvSpPr>
        <p:spPr>
          <a:xfrm>
            <a:off x="1547825" y="4248075"/>
            <a:ext cx="33834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Lato"/>
                <a:ea typeface="Lato"/>
                <a:cs typeface="Lato"/>
                <a:sym typeface="Lato"/>
              </a:rPr>
              <a:t>Assesses mitigation choices, documentation, effectiveness, data integrity, rare-group handling, and new risks introduced.</a:t>
            </a:r>
            <a:endParaRPr sz="1100">
              <a:solidFill>
                <a:schemeClr val="lt1"/>
              </a:solidFill>
              <a:latin typeface="Lato"/>
              <a:ea typeface="Lato"/>
              <a:cs typeface="Lato"/>
              <a:sym typeface="Lato"/>
            </a:endParaRPr>
          </a:p>
        </p:txBody>
      </p:sp>
      <p:sp>
        <p:nvSpPr>
          <p:cNvPr id="174" name="Google Shape;174;p16"/>
          <p:cNvSpPr/>
          <p:nvPr/>
        </p:nvSpPr>
        <p:spPr>
          <a:xfrm>
            <a:off x="5147300" y="2582275"/>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Lato"/>
                <a:ea typeface="Lato"/>
                <a:cs typeface="Lato"/>
                <a:sym typeface="Lato"/>
              </a:rPr>
              <a:t>-1, -1, -1, -1, 0, -1, -1 ; </a:t>
            </a:r>
            <a:r>
              <a:rPr b="1" lang="en" u="sng">
                <a:solidFill>
                  <a:schemeClr val="dk1"/>
                </a:solidFill>
                <a:latin typeface="Lato"/>
                <a:ea typeface="Lato"/>
                <a:cs typeface="Lato"/>
                <a:sym typeface="Lato"/>
              </a:rPr>
              <a:t>Sum = –6</a:t>
            </a:r>
            <a:endParaRPr b="1" u="sng">
              <a:solidFill>
                <a:schemeClr val="dk1"/>
              </a:solidFill>
              <a:latin typeface="Lato"/>
              <a:ea typeface="Lato"/>
              <a:cs typeface="Lato"/>
              <a:sym typeface="Lato"/>
            </a:endParaRPr>
          </a:p>
        </p:txBody>
      </p:sp>
      <p:sp>
        <p:nvSpPr>
          <p:cNvPr id="175" name="Google Shape;175;p16"/>
          <p:cNvSpPr/>
          <p:nvPr/>
        </p:nvSpPr>
        <p:spPr>
          <a:xfrm>
            <a:off x="5147300" y="3411425"/>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Lato"/>
                <a:ea typeface="Lato"/>
                <a:cs typeface="Lato"/>
                <a:sym typeface="Lato"/>
              </a:rPr>
              <a:t>-1, -1, 0, 0, -1, 0, -1 ; </a:t>
            </a:r>
            <a:r>
              <a:rPr b="1" lang="en" u="sng">
                <a:solidFill>
                  <a:schemeClr val="dk1"/>
                </a:solidFill>
                <a:latin typeface="Lato"/>
                <a:ea typeface="Lato"/>
                <a:cs typeface="Lato"/>
                <a:sym typeface="Lato"/>
              </a:rPr>
              <a:t>Sum = –4</a:t>
            </a:r>
            <a:endParaRPr b="1" u="sng">
              <a:solidFill>
                <a:schemeClr val="dk1"/>
              </a:solidFill>
              <a:latin typeface="Lato"/>
              <a:ea typeface="Lato"/>
              <a:cs typeface="Lato"/>
              <a:sym typeface="Lato"/>
            </a:endParaRPr>
          </a:p>
        </p:txBody>
      </p:sp>
      <p:sp>
        <p:nvSpPr>
          <p:cNvPr id="176" name="Google Shape;176;p16"/>
          <p:cNvSpPr/>
          <p:nvPr/>
        </p:nvSpPr>
        <p:spPr>
          <a:xfrm>
            <a:off x="5147300" y="4240575"/>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Lato"/>
                <a:ea typeface="Lato"/>
                <a:cs typeface="Lato"/>
                <a:sym typeface="Lato"/>
              </a:rPr>
              <a:t>-1, -1, -1, 0, -1, -1, -1 ; </a:t>
            </a:r>
            <a:r>
              <a:rPr b="1" lang="en" u="sng">
                <a:solidFill>
                  <a:schemeClr val="dk1"/>
                </a:solidFill>
                <a:latin typeface="Lato"/>
                <a:ea typeface="Lato"/>
                <a:cs typeface="Lato"/>
                <a:sym typeface="Lato"/>
              </a:rPr>
              <a:t>Sum</a:t>
            </a:r>
            <a:r>
              <a:rPr b="1" lang="en" u="sng">
                <a:solidFill>
                  <a:schemeClr val="dk1"/>
                </a:solidFill>
                <a:latin typeface="Lato"/>
                <a:ea typeface="Lato"/>
                <a:cs typeface="Lato"/>
                <a:sym typeface="Lato"/>
              </a:rPr>
              <a:t> = –6</a:t>
            </a:r>
            <a:endParaRPr>
              <a:solidFill>
                <a:schemeClr val="dk1"/>
              </a:solidFill>
              <a:latin typeface="Lato"/>
              <a:ea typeface="Lato"/>
              <a:cs typeface="Lato"/>
              <a:sym typeface="Lato"/>
            </a:endParaRPr>
          </a:p>
        </p:txBody>
      </p:sp>
      <p:sp>
        <p:nvSpPr>
          <p:cNvPr id="177" name="Google Shape;177;p16"/>
          <p:cNvSpPr/>
          <p:nvPr/>
        </p:nvSpPr>
        <p:spPr>
          <a:xfrm>
            <a:off x="6828175" y="1491775"/>
            <a:ext cx="2134500" cy="3415200"/>
          </a:xfrm>
          <a:prstGeom prst="rect">
            <a:avLst/>
          </a:prstGeom>
          <a:solidFill>
            <a:srgbClr val="05337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All analysis-phase fairness work is missing, indicating that the dataset was not evaluated for structural bias, subgroup impact, or potential harms. </a:t>
            </a:r>
            <a:endParaRPr>
              <a:solidFill>
                <a:schemeClr val="lt1"/>
              </a:solidFill>
              <a:latin typeface="Lato"/>
              <a:ea typeface="Lato"/>
              <a:cs typeface="Lato"/>
              <a:sym typeface="Lato"/>
            </a:endParaRPr>
          </a:p>
          <a:p>
            <a:pPr indent="0" lvl="0" marL="0" rtl="0" algn="ctr">
              <a:spcBef>
                <a:spcPts val="0"/>
              </a:spcBef>
              <a:spcAft>
                <a:spcPts val="0"/>
              </a:spcAft>
              <a:buNone/>
            </a:pPr>
            <a:r>
              <a:rPr lang="en">
                <a:solidFill>
                  <a:schemeClr val="lt1"/>
                </a:solidFill>
                <a:latin typeface="Lato"/>
                <a:ea typeface="Lato"/>
                <a:cs typeface="Lato"/>
                <a:sym typeface="Lato"/>
              </a:rPr>
              <a:t>These scores show that fairness risks were neither examined nor mitigated, which is especially concerning for HR and workforce analytics contexts.</a:t>
            </a:r>
            <a:endParaRPr>
              <a:solidFill>
                <a:schemeClr val="lt1"/>
              </a:solidFill>
              <a:latin typeface="Lato"/>
              <a:ea typeface="Lato"/>
              <a:cs typeface="Lato"/>
              <a:sym typeface="Lato"/>
            </a:endParaRPr>
          </a:p>
        </p:txBody>
      </p:sp>
      <p:sp>
        <p:nvSpPr>
          <p:cNvPr id="178" name="Google Shape;178;p16"/>
          <p:cNvSpPr txBox="1"/>
          <p:nvPr/>
        </p:nvSpPr>
        <p:spPr>
          <a:xfrm>
            <a:off x="116825" y="1488025"/>
            <a:ext cx="1333500" cy="7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Lato"/>
                <a:ea typeface="Lato"/>
                <a:cs typeface="Lato"/>
                <a:sym typeface="Lato"/>
              </a:rPr>
              <a:t>Assessment + Mitigation:</a:t>
            </a:r>
            <a:endParaRPr b="1" sz="16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B312-B412 (rubric overview + scoring)</a:t>
            </a:r>
            <a:endParaRPr/>
          </a:p>
        </p:txBody>
      </p:sp>
      <p:sp>
        <p:nvSpPr>
          <p:cNvPr id="184" name="Google Shape;184;p17"/>
          <p:cNvSpPr/>
          <p:nvPr/>
        </p:nvSpPr>
        <p:spPr>
          <a:xfrm>
            <a:off x="434914" y="1759626"/>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B312</a:t>
            </a:r>
            <a:r>
              <a:rPr lang="en">
                <a:solidFill>
                  <a:schemeClr val="dk1"/>
                </a:solidFill>
                <a:latin typeface="Lato"/>
                <a:ea typeface="Lato"/>
                <a:cs typeface="Lato"/>
                <a:sym typeface="Lato"/>
              </a:rPr>
              <a:t>: </a:t>
            </a:r>
            <a:r>
              <a:rPr b="1" lang="en">
                <a:solidFill>
                  <a:schemeClr val="dk1"/>
                </a:solidFill>
                <a:latin typeface="Lato"/>
                <a:ea typeface="Lato"/>
                <a:cs typeface="Lato"/>
                <a:sym typeface="Lato"/>
              </a:rPr>
              <a:t>Rebalancing Techniques</a:t>
            </a:r>
            <a:endParaRPr b="1">
              <a:solidFill>
                <a:schemeClr val="dk1"/>
              </a:solidFill>
              <a:latin typeface="Lato"/>
              <a:ea typeface="Lato"/>
              <a:cs typeface="Lato"/>
              <a:sym typeface="Lato"/>
            </a:endParaRPr>
          </a:p>
        </p:txBody>
      </p:sp>
      <p:sp>
        <p:nvSpPr>
          <p:cNvPr id="185" name="Google Shape;185;p17"/>
          <p:cNvSpPr/>
          <p:nvPr/>
        </p:nvSpPr>
        <p:spPr>
          <a:xfrm>
            <a:off x="434914" y="2828013"/>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B411</a:t>
            </a:r>
            <a:r>
              <a:rPr lang="en">
                <a:solidFill>
                  <a:schemeClr val="dk1"/>
                </a:solidFill>
                <a:latin typeface="Lato"/>
                <a:ea typeface="Lato"/>
                <a:cs typeface="Lato"/>
                <a:sym typeface="Lato"/>
              </a:rPr>
              <a:t>:</a:t>
            </a:r>
            <a:endParaRPr>
              <a:solidFill>
                <a:schemeClr val="dk1"/>
              </a:solidFill>
              <a:latin typeface="Lato"/>
              <a:ea typeface="Lato"/>
              <a:cs typeface="Lato"/>
              <a:sym typeface="Lato"/>
            </a:endParaRPr>
          </a:p>
          <a:p>
            <a:pPr indent="0" lvl="0" marL="0" rtl="0" algn="ctr">
              <a:spcBef>
                <a:spcPts val="0"/>
              </a:spcBef>
              <a:spcAft>
                <a:spcPts val="0"/>
              </a:spcAft>
              <a:buNone/>
            </a:pPr>
            <a:r>
              <a:rPr b="1" lang="en">
                <a:solidFill>
                  <a:schemeClr val="dk1"/>
                </a:solidFill>
                <a:latin typeface="Lato"/>
                <a:ea typeface="Lato"/>
                <a:cs typeface="Lato"/>
                <a:sym typeface="Lato"/>
              </a:rPr>
              <a:t>Third-Party </a:t>
            </a:r>
            <a:r>
              <a:rPr b="1" lang="en">
                <a:solidFill>
                  <a:schemeClr val="dk1"/>
                </a:solidFill>
                <a:latin typeface="Lato"/>
                <a:ea typeface="Lato"/>
                <a:cs typeface="Lato"/>
                <a:sym typeface="Lato"/>
              </a:rPr>
              <a:t>Assessment</a:t>
            </a:r>
            <a:endParaRPr b="1">
              <a:solidFill>
                <a:schemeClr val="dk1"/>
              </a:solidFill>
              <a:latin typeface="Lato"/>
              <a:ea typeface="Lato"/>
              <a:cs typeface="Lato"/>
              <a:sym typeface="Lato"/>
            </a:endParaRPr>
          </a:p>
        </p:txBody>
      </p:sp>
      <p:sp>
        <p:nvSpPr>
          <p:cNvPr id="186" name="Google Shape;186;p17"/>
          <p:cNvSpPr/>
          <p:nvPr/>
        </p:nvSpPr>
        <p:spPr>
          <a:xfrm>
            <a:off x="434914" y="3896401"/>
            <a:ext cx="12522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Lato"/>
                <a:ea typeface="Lato"/>
                <a:cs typeface="Lato"/>
                <a:sym typeface="Lato"/>
              </a:rPr>
              <a:t>B412</a:t>
            </a:r>
            <a:r>
              <a:rPr lang="en">
                <a:solidFill>
                  <a:schemeClr val="dk1"/>
                </a:solidFill>
                <a:latin typeface="Lato"/>
                <a:ea typeface="Lato"/>
                <a:cs typeface="Lato"/>
                <a:sym typeface="Lato"/>
              </a:rPr>
              <a:t>:</a:t>
            </a:r>
            <a:endParaRPr>
              <a:solidFill>
                <a:schemeClr val="dk1"/>
              </a:solidFill>
              <a:latin typeface="Lato"/>
              <a:ea typeface="Lato"/>
              <a:cs typeface="Lato"/>
              <a:sym typeface="Lato"/>
            </a:endParaRPr>
          </a:p>
          <a:p>
            <a:pPr indent="0" lvl="0" marL="0" rtl="0" algn="ctr">
              <a:spcBef>
                <a:spcPts val="0"/>
              </a:spcBef>
              <a:spcAft>
                <a:spcPts val="0"/>
              </a:spcAft>
              <a:buNone/>
            </a:pPr>
            <a:r>
              <a:rPr b="1" lang="en">
                <a:solidFill>
                  <a:schemeClr val="dk1"/>
                </a:solidFill>
                <a:latin typeface="Lato"/>
                <a:ea typeface="Lato"/>
                <a:cs typeface="Lato"/>
                <a:sym typeface="Lato"/>
              </a:rPr>
              <a:t>Transparent Reports</a:t>
            </a:r>
            <a:endParaRPr b="1">
              <a:solidFill>
                <a:schemeClr val="dk1"/>
              </a:solidFill>
              <a:latin typeface="Lato"/>
              <a:ea typeface="Lato"/>
              <a:cs typeface="Lato"/>
              <a:sym typeface="Lato"/>
            </a:endParaRPr>
          </a:p>
        </p:txBody>
      </p:sp>
      <p:sp>
        <p:nvSpPr>
          <p:cNvPr id="187" name="Google Shape;187;p17"/>
          <p:cNvSpPr/>
          <p:nvPr/>
        </p:nvSpPr>
        <p:spPr>
          <a:xfrm>
            <a:off x="1825276" y="1759625"/>
            <a:ext cx="34662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Lato"/>
                <a:ea typeface="Lato"/>
                <a:cs typeface="Lato"/>
                <a:sym typeface="Lato"/>
              </a:rPr>
              <a:t>Evaluates how clearly the dataset explains its collection process, sampling approach, and representativeness.</a:t>
            </a:r>
            <a:endParaRPr sz="1100">
              <a:solidFill>
                <a:schemeClr val="lt1"/>
              </a:solidFill>
              <a:latin typeface="Lato"/>
              <a:ea typeface="Lato"/>
              <a:cs typeface="Lato"/>
              <a:sym typeface="Lato"/>
            </a:endParaRPr>
          </a:p>
        </p:txBody>
      </p:sp>
      <p:sp>
        <p:nvSpPr>
          <p:cNvPr id="188" name="Google Shape;188;p17"/>
          <p:cNvSpPr/>
          <p:nvPr/>
        </p:nvSpPr>
        <p:spPr>
          <a:xfrm>
            <a:off x="1825276" y="2828025"/>
            <a:ext cx="34662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Lato"/>
                <a:ea typeface="Lato"/>
                <a:cs typeface="Lato"/>
                <a:sym typeface="Lato"/>
              </a:rPr>
              <a:t>Evaluates whether the dataset discloses potential biases, known errors, and limitations that could affect fairness.</a:t>
            </a:r>
            <a:endParaRPr sz="1100">
              <a:solidFill>
                <a:schemeClr val="lt1"/>
              </a:solidFill>
              <a:latin typeface="Lato"/>
              <a:ea typeface="Lato"/>
              <a:cs typeface="Lato"/>
              <a:sym typeface="Lato"/>
            </a:endParaRPr>
          </a:p>
        </p:txBody>
      </p:sp>
      <p:sp>
        <p:nvSpPr>
          <p:cNvPr id="189" name="Google Shape;189;p17"/>
          <p:cNvSpPr/>
          <p:nvPr/>
        </p:nvSpPr>
        <p:spPr>
          <a:xfrm>
            <a:off x="1825276" y="3896425"/>
            <a:ext cx="3466200" cy="666300"/>
          </a:xfrm>
          <a:prstGeom prst="rect">
            <a:avLst/>
          </a:prstGeom>
          <a:solidFill>
            <a:srgbClr val="0239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solidFill>
                <a:schemeClr val="lt1"/>
              </a:solidFill>
              <a:latin typeface="Lato"/>
              <a:ea typeface="Lato"/>
              <a:cs typeface="Lato"/>
              <a:sym typeface="Lato"/>
            </a:endParaRPr>
          </a:p>
          <a:p>
            <a:pPr indent="0" lvl="0" marL="0" rtl="0" algn="l">
              <a:spcBef>
                <a:spcPts val="0"/>
              </a:spcBef>
              <a:spcAft>
                <a:spcPts val="0"/>
              </a:spcAft>
              <a:buNone/>
            </a:pPr>
            <a:r>
              <a:rPr lang="en" sz="1100">
                <a:solidFill>
                  <a:schemeClr val="lt1"/>
                </a:solidFill>
                <a:latin typeface="Lato"/>
                <a:ea typeface="Lato"/>
                <a:cs typeface="Lato"/>
                <a:sym typeface="Lato"/>
              </a:rPr>
              <a:t>Evaluates whether the dataset includes any built-in checks, metrics, or documentation supporting fair and equitable data use.</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p:txBody>
      </p:sp>
      <p:sp>
        <p:nvSpPr>
          <p:cNvPr id="190" name="Google Shape;190;p17"/>
          <p:cNvSpPr/>
          <p:nvPr/>
        </p:nvSpPr>
        <p:spPr>
          <a:xfrm>
            <a:off x="5424739" y="1759626"/>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Lato"/>
                <a:ea typeface="Lato"/>
                <a:cs typeface="Lato"/>
                <a:sym typeface="Lato"/>
              </a:rPr>
              <a:t>–1, –1, –1, –1,</a:t>
            </a:r>
            <a:r>
              <a:rPr lang="en" sz="1300">
                <a:solidFill>
                  <a:schemeClr val="dk1"/>
                </a:solidFill>
                <a:latin typeface="Lato"/>
                <a:ea typeface="Lato"/>
                <a:cs typeface="Lato"/>
                <a:sym typeface="Lato"/>
              </a:rPr>
              <a:t> </a:t>
            </a:r>
            <a:r>
              <a:rPr lang="en" sz="1300">
                <a:solidFill>
                  <a:schemeClr val="dk1"/>
                </a:solidFill>
                <a:latin typeface="Lato"/>
                <a:ea typeface="Lato"/>
                <a:cs typeface="Lato"/>
                <a:sym typeface="Lato"/>
              </a:rPr>
              <a:t>–1</a:t>
            </a:r>
            <a:r>
              <a:rPr lang="en" sz="1300">
                <a:solidFill>
                  <a:schemeClr val="dk1"/>
                </a:solidFill>
                <a:latin typeface="Lato"/>
                <a:ea typeface="Lato"/>
                <a:cs typeface="Lato"/>
                <a:sym typeface="Lato"/>
              </a:rPr>
              <a:t>; </a:t>
            </a:r>
            <a:r>
              <a:rPr b="1" lang="en" sz="1300">
                <a:solidFill>
                  <a:schemeClr val="dk1"/>
                </a:solidFill>
                <a:latin typeface="Lato"/>
                <a:ea typeface="Lato"/>
                <a:cs typeface="Lato"/>
                <a:sym typeface="Lato"/>
              </a:rPr>
              <a:t>Sum = -5</a:t>
            </a:r>
            <a:endParaRPr b="1" sz="1300">
              <a:solidFill>
                <a:schemeClr val="dk1"/>
              </a:solidFill>
              <a:latin typeface="Lato"/>
              <a:ea typeface="Lato"/>
              <a:cs typeface="Lato"/>
              <a:sym typeface="Lato"/>
            </a:endParaRPr>
          </a:p>
        </p:txBody>
      </p:sp>
      <p:sp>
        <p:nvSpPr>
          <p:cNvPr id="191" name="Google Shape;191;p17"/>
          <p:cNvSpPr/>
          <p:nvPr/>
        </p:nvSpPr>
        <p:spPr>
          <a:xfrm>
            <a:off x="5429614" y="2828026"/>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Lato"/>
                <a:ea typeface="Lato"/>
                <a:cs typeface="Lato"/>
                <a:sym typeface="Lato"/>
              </a:rPr>
              <a:t>–1, –1, –1, –1, –1</a:t>
            </a:r>
            <a:r>
              <a:rPr lang="en" sz="1300">
                <a:solidFill>
                  <a:schemeClr val="dk1"/>
                </a:solidFill>
                <a:latin typeface="Lato"/>
                <a:ea typeface="Lato"/>
                <a:cs typeface="Lato"/>
                <a:sym typeface="Lato"/>
              </a:rPr>
              <a:t>; </a:t>
            </a:r>
            <a:r>
              <a:rPr b="1" lang="en" sz="1300">
                <a:solidFill>
                  <a:schemeClr val="dk1"/>
                </a:solidFill>
                <a:latin typeface="Lato"/>
                <a:ea typeface="Lato"/>
                <a:cs typeface="Lato"/>
                <a:sym typeface="Lato"/>
              </a:rPr>
              <a:t>Sum = -5</a:t>
            </a:r>
            <a:endParaRPr b="1" sz="1300">
              <a:solidFill>
                <a:schemeClr val="dk1"/>
              </a:solidFill>
              <a:latin typeface="Lato"/>
              <a:ea typeface="Lato"/>
              <a:cs typeface="Lato"/>
              <a:sym typeface="Lato"/>
            </a:endParaRPr>
          </a:p>
        </p:txBody>
      </p:sp>
      <p:sp>
        <p:nvSpPr>
          <p:cNvPr id="192" name="Google Shape;192;p17"/>
          <p:cNvSpPr/>
          <p:nvPr/>
        </p:nvSpPr>
        <p:spPr>
          <a:xfrm>
            <a:off x="5429614" y="3896426"/>
            <a:ext cx="1424100" cy="66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Lato"/>
                <a:ea typeface="Lato"/>
                <a:cs typeface="Lato"/>
                <a:sym typeface="Lato"/>
              </a:rPr>
              <a:t>0, 0, 0, 0, 0;</a:t>
            </a:r>
            <a:endParaRPr sz="1300">
              <a:solidFill>
                <a:schemeClr val="dk1"/>
              </a:solidFill>
              <a:latin typeface="Lato"/>
              <a:ea typeface="Lato"/>
              <a:cs typeface="Lato"/>
              <a:sym typeface="Lato"/>
            </a:endParaRPr>
          </a:p>
          <a:p>
            <a:pPr indent="0" lvl="0" marL="0" rtl="0" algn="ctr">
              <a:spcBef>
                <a:spcPts val="0"/>
              </a:spcBef>
              <a:spcAft>
                <a:spcPts val="0"/>
              </a:spcAft>
              <a:buNone/>
            </a:pPr>
            <a:r>
              <a:rPr b="1" lang="en" sz="1300">
                <a:solidFill>
                  <a:schemeClr val="dk1"/>
                </a:solidFill>
                <a:latin typeface="Lato"/>
                <a:ea typeface="Lato"/>
                <a:cs typeface="Lato"/>
                <a:sym typeface="Lato"/>
              </a:rPr>
              <a:t>Sum = 0</a:t>
            </a:r>
            <a:endParaRPr b="1" sz="1300">
              <a:solidFill>
                <a:schemeClr val="dk1"/>
              </a:solidFill>
              <a:latin typeface="Lato"/>
              <a:ea typeface="Lato"/>
              <a:cs typeface="Lato"/>
              <a:sym typeface="Lato"/>
            </a:endParaRPr>
          </a:p>
        </p:txBody>
      </p:sp>
      <p:sp>
        <p:nvSpPr>
          <p:cNvPr id="193" name="Google Shape;193;p17"/>
          <p:cNvSpPr/>
          <p:nvPr/>
        </p:nvSpPr>
        <p:spPr>
          <a:xfrm>
            <a:off x="7191150" y="1786900"/>
            <a:ext cx="1857000" cy="3134100"/>
          </a:xfrm>
          <a:prstGeom prst="rect">
            <a:avLst/>
          </a:prstGeom>
          <a:solidFill>
            <a:srgbClr val="032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Lato"/>
                <a:ea typeface="Lato"/>
                <a:cs typeface="Lato"/>
                <a:sym typeface="Lato"/>
              </a:rPr>
              <a:t>Across questions 3.12, 4.11, and 4.12, the dataset clearly lacks the information needed to evaluate fairness. It doesn’t explain how the data was collected, doesn’t report limitations, and offers no built-in checks for bias. Because of this, it’s impossible to tell whether the dataset represents different groups accurately or consistently.</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1100">
              <a:solidFill>
                <a:schemeClr val="lt1"/>
              </a:solidFill>
              <a:latin typeface="Lato"/>
              <a:ea typeface="Lato"/>
              <a:cs typeface="Lato"/>
              <a:sym typeface="Lato"/>
            </a:endParaRPr>
          </a:p>
        </p:txBody>
      </p:sp>
      <p:pic>
        <p:nvPicPr>
          <p:cNvPr id="194" name="Google Shape;194;p17" title="Screenshot 2025-12-03 231904.png"/>
          <p:cNvPicPr preferRelativeResize="0"/>
          <p:nvPr/>
        </p:nvPicPr>
        <p:blipFill>
          <a:blip r:embed="rId3">
            <a:alphaModFix/>
          </a:blip>
          <a:stretch>
            <a:fillRect/>
          </a:stretch>
        </p:blipFill>
        <p:spPr>
          <a:xfrm>
            <a:off x="5291475" y="912276"/>
            <a:ext cx="2813973" cy="395574"/>
          </a:xfrm>
          <a:prstGeom prst="rect">
            <a:avLst/>
          </a:prstGeom>
          <a:noFill/>
          <a:ln>
            <a:noFill/>
          </a:ln>
        </p:spPr>
      </p:pic>
      <p:pic>
        <p:nvPicPr>
          <p:cNvPr id="195" name="Google Shape;195;p17" title="Screenshot 2025-12-03 231845.png"/>
          <p:cNvPicPr preferRelativeResize="0"/>
          <p:nvPr/>
        </p:nvPicPr>
        <p:blipFill>
          <a:blip r:embed="rId4">
            <a:alphaModFix/>
          </a:blip>
          <a:stretch>
            <a:fillRect/>
          </a:stretch>
        </p:blipFill>
        <p:spPr>
          <a:xfrm>
            <a:off x="2457600" y="912274"/>
            <a:ext cx="2833884" cy="666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Summary</a:t>
            </a:r>
            <a:endParaRPr/>
          </a:p>
        </p:txBody>
      </p:sp>
      <p:sp>
        <p:nvSpPr>
          <p:cNvPr id="201" name="Google Shape;201;p18"/>
          <p:cNvSpPr txBox="1"/>
          <p:nvPr>
            <p:ph idx="1" type="body"/>
          </p:nvPr>
        </p:nvSpPr>
        <p:spPr>
          <a:xfrm>
            <a:off x="311850" y="1429100"/>
            <a:ext cx="4078500" cy="332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These results show how the HR Analytics dataset performs across the Fairness–Data criteria using our custom scoring method. </a:t>
            </a:r>
            <a:endParaRPr/>
          </a:p>
          <a:p>
            <a:pPr indent="0" lvl="0" marL="0" rtl="0" algn="l">
              <a:spcBef>
                <a:spcPts val="1200"/>
              </a:spcBef>
              <a:spcAft>
                <a:spcPts val="0"/>
              </a:spcAft>
              <a:buNone/>
            </a:pPr>
            <a:r>
              <a:rPr lang="en"/>
              <a:t>The dataset shows some strengths, such as clear purpose and basic metadata, but most sections scored poorly. </a:t>
            </a:r>
            <a:endParaRPr/>
          </a:p>
          <a:p>
            <a:pPr indent="0" lvl="0" marL="0" rtl="0" algn="l">
              <a:spcBef>
                <a:spcPts val="1200"/>
              </a:spcBef>
              <a:spcAft>
                <a:spcPts val="0"/>
              </a:spcAft>
              <a:buNone/>
            </a:pPr>
            <a:r>
              <a:rPr lang="en"/>
              <a:t>It lacks sampling information, bias documentation, fairness metrics, mitigation steps, audits, and formal transparency reporting. </a:t>
            </a:r>
            <a:endParaRPr/>
          </a:p>
          <a:p>
            <a:pPr indent="0" lvl="0" marL="0" rtl="0" algn="l">
              <a:spcBef>
                <a:spcPts val="1200"/>
              </a:spcBef>
              <a:spcAft>
                <a:spcPts val="1200"/>
              </a:spcAft>
              <a:buNone/>
            </a:pPr>
            <a:r>
              <a:rPr lang="en"/>
              <a:t>Overall, the scores indicate that while the dataset is workable for analysis, it does not meet most fairness or responsible AI expectations.</a:t>
            </a:r>
            <a:endParaRPr/>
          </a:p>
        </p:txBody>
      </p:sp>
      <p:pic>
        <p:nvPicPr>
          <p:cNvPr id="202" name="Google Shape;202;p18"/>
          <p:cNvPicPr preferRelativeResize="0"/>
          <p:nvPr/>
        </p:nvPicPr>
        <p:blipFill rotWithShape="1">
          <a:blip r:embed="rId3">
            <a:alphaModFix/>
          </a:blip>
          <a:srcRect b="0" l="0" r="12403" t="0"/>
          <a:stretch/>
        </p:blipFill>
        <p:spPr>
          <a:xfrm>
            <a:off x="4497450" y="1358063"/>
            <a:ext cx="4440699" cy="3468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9"/>
          <p:cNvSpPr txBox="1"/>
          <p:nvPr>
            <p:ph type="title"/>
          </p:nvPr>
        </p:nvSpPr>
        <p:spPr>
          <a:xfrm>
            <a:off x="1143300" y="614950"/>
            <a:ext cx="6104700" cy="6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b="1" lang="en" sz="2546"/>
              <a:t>Discussion: </a:t>
            </a:r>
            <a:r>
              <a:rPr b="1" lang="en" sz="2546"/>
              <a:t>Key Findings</a:t>
            </a:r>
            <a:endParaRPr b="1" sz="2546"/>
          </a:p>
        </p:txBody>
      </p:sp>
      <p:sp>
        <p:nvSpPr>
          <p:cNvPr id="208" name="Google Shape;208;p19"/>
          <p:cNvSpPr/>
          <p:nvPr/>
        </p:nvSpPr>
        <p:spPr>
          <a:xfrm>
            <a:off x="6361650" y="2200250"/>
            <a:ext cx="2443200" cy="2367900"/>
          </a:xfrm>
          <a:prstGeom prst="rect">
            <a:avLst/>
          </a:prstGeom>
          <a:solidFill>
            <a:schemeClr val="lt2"/>
          </a:solidFill>
          <a:ln>
            <a:noFill/>
          </a:ln>
        </p:spPr>
        <p:txBody>
          <a:bodyPr anchorCtr="0" anchor="ctr"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Font typeface="Montserrat"/>
              <a:buChar char="●"/>
            </a:pPr>
            <a:r>
              <a:rPr b="1" lang="en" sz="1200">
                <a:solidFill>
                  <a:schemeClr val="dk1"/>
                </a:solidFill>
                <a:latin typeface="Montserrat"/>
                <a:ea typeface="Montserrat"/>
                <a:cs typeface="Montserrat"/>
                <a:sym typeface="Montserrat"/>
              </a:rPr>
              <a:t>Dataset has basic metadata but lacks deeper fairness documentation</a:t>
            </a:r>
            <a:endParaRPr b="1" sz="1200">
              <a:solidFill>
                <a:schemeClr val="dk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dk1"/>
              </a:buClr>
              <a:buSzPts val="1200"/>
              <a:buFont typeface="Montserrat"/>
              <a:buChar char="●"/>
            </a:pPr>
            <a:r>
              <a:rPr b="1" lang="en" sz="1200">
                <a:solidFill>
                  <a:schemeClr val="dk1"/>
                </a:solidFill>
                <a:latin typeface="Montserrat"/>
                <a:ea typeface="Montserrat"/>
                <a:cs typeface="Montserrat"/>
                <a:sym typeface="Montserrat"/>
              </a:rPr>
              <a:t>Scores across System Card+ criteria are mostly negative</a:t>
            </a:r>
            <a:endParaRPr b="1" sz="1200">
              <a:solidFill>
                <a:schemeClr val="dk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dk1"/>
              </a:buClr>
              <a:buSzPts val="1200"/>
              <a:buFont typeface="Montserrat"/>
              <a:buChar char="●"/>
            </a:pPr>
            <a:r>
              <a:rPr b="1" lang="en" sz="1200">
                <a:solidFill>
                  <a:schemeClr val="dk1"/>
                </a:solidFill>
                <a:latin typeface="Montserrat"/>
                <a:ea typeface="Montserrat"/>
                <a:cs typeface="Montserrat"/>
                <a:sym typeface="Montserrat"/>
              </a:rPr>
              <a:t>Fairness risks appear across all phases of the framework</a:t>
            </a:r>
            <a:endParaRPr b="1" sz="1500">
              <a:solidFill>
                <a:schemeClr val="dk1"/>
              </a:solidFill>
              <a:latin typeface="Montserrat"/>
              <a:ea typeface="Montserrat"/>
              <a:cs typeface="Montserrat"/>
              <a:sym typeface="Montserrat"/>
            </a:endParaRPr>
          </a:p>
        </p:txBody>
      </p:sp>
      <p:sp>
        <p:nvSpPr>
          <p:cNvPr id="209" name="Google Shape;209;p19"/>
          <p:cNvSpPr/>
          <p:nvPr/>
        </p:nvSpPr>
        <p:spPr>
          <a:xfrm>
            <a:off x="6361650" y="1656650"/>
            <a:ext cx="2443200" cy="4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Montserrat"/>
                <a:ea typeface="Montserrat"/>
                <a:cs typeface="Montserrat"/>
                <a:sym typeface="Montserrat"/>
              </a:rPr>
              <a:t>Overall Pattern:</a:t>
            </a:r>
            <a:endParaRPr b="1">
              <a:solidFill>
                <a:schemeClr val="dk1"/>
              </a:solidFill>
              <a:latin typeface="Montserrat"/>
              <a:ea typeface="Montserrat"/>
              <a:cs typeface="Montserrat"/>
              <a:sym typeface="Montserrat"/>
            </a:endParaRPr>
          </a:p>
        </p:txBody>
      </p:sp>
      <p:sp>
        <p:nvSpPr>
          <p:cNvPr id="210" name="Google Shape;210;p19"/>
          <p:cNvSpPr/>
          <p:nvPr/>
        </p:nvSpPr>
        <p:spPr>
          <a:xfrm>
            <a:off x="423325" y="1602625"/>
            <a:ext cx="5079900" cy="2965500"/>
          </a:xfrm>
          <a:prstGeom prst="rect">
            <a:avLst/>
          </a:prstGeom>
          <a:solidFill>
            <a:srgbClr val="02398C"/>
          </a:solidFill>
          <a:ln>
            <a:noFill/>
          </a:ln>
        </p:spPr>
        <p:txBody>
          <a:bodyPr anchorCtr="0" anchor="ctr"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b="1" lang="en" sz="1300">
                <a:solidFill>
                  <a:schemeClr val="lt1"/>
                </a:solidFill>
                <a:latin typeface="Lato"/>
                <a:ea typeface="Lato"/>
                <a:cs typeface="Lato"/>
                <a:sym typeface="Lato"/>
              </a:rPr>
              <a:t>Documentation is limited</a:t>
            </a:r>
            <a:r>
              <a:rPr lang="en" sz="1300">
                <a:solidFill>
                  <a:schemeClr val="lt1"/>
                </a:solidFill>
                <a:latin typeface="Lato"/>
                <a:ea typeface="Lato"/>
                <a:cs typeface="Lato"/>
                <a:sym typeface="Lato"/>
              </a:rPr>
              <a:t> (B111 = 0): Purpose and metadata exist, but no sampling details or limitations, so demographic patterns cannot be interpreted confidently.</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No fairness analysis (B112 = –2, B114 = –5): </a:t>
            </a:r>
            <a:r>
              <a:rPr b="1" lang="en" sz="1300">
                <a:solidFill>
                  <a:schemeClr val="lt1"/>
                </a:solidFill>
                <a:latin typeface="Lato"/>
                <a:ea typeface="Lato"/>
                <a:cs typeface="Lato"/>
                <a:sym typeface="Lato"/>
              </a:rPr>
              <a:t>No built-in bias checks, no subgroup context, and no defined fairness metrics</a:t>
            </a:r>
            <a:r>
              <a:rPr lang="en" sz="1300">
                <a:solidFill>
                  <a:schemeClr val="lt1"/>
                </a:solidFill>
                <a:latin typeface="Lato"/>
                <a:ea typeface="Lato"/>
                <a:cs typeface="Lato"/>
                <a:sym typeface="Lato"/>
              </a:rPr>
              <a:t>.</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Sampling and representation unclear (B113 = –4):</a:t>
            </a:r>
            <a:r>
              <a:rPr b="1" lang="en" sz="1300">
                <a:solidFill>
                  <a:schemeClr val="lt1"/>
                </a:solidFill>
                <a:latin typeface="Lato"/>
                <a:ea typeface="Lato"/>
                <a:cs typeface="Lato"/>
                <a:sym typeface="Lato"/>
              </a:rPr>
              <a:t> No inclusion criteria or explanation</a:t>
            </a:r>
            <a:r>
              <a:rPr lang="en" sz="1300">
                <a:solidFill>
                  <a:schemeClr val="lt1"/>
                </a:solidFill>
                <a:latin typeface="Lato"/>
                <a:ea typeface="Lato"/>
                <a:cs typeface="Lato"/>
                <a:sym typeface="Lato"/>
              </a:rPr>
              <a:t> of how demographic groups were collected or </a:t>
            </a:r>
            <a:r>
              <a:rPr b="1" lang="en" sz="1300">
                <a:solidFill>
                  <a:schemeClr val="lt1"/>
                </a:solidFill>
                <a:latin typeface="Lato"/>
                <a:ea typeface="Lato"/>
                <a:cs typeface="Lato"/>
                <a:sym typeface="Lato"/>
              </a:rPr>
              <a:t>represented</a:t>
            </a:r>
            <a:r>
              <a:rPr lang="en" sz="1300">
                <a:solidFill>
                  <a:schemeClr val="lt1"/>
                </a:solidFill>
                <a:latin typeface="Lato"/>
                <a:ea typeface="Lato"/>
                <a:cs typeface="Lato"/>
                <a:sym typeface="Lato"/>
              </a:rPr>
              <a:t>.</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No mitigation or assurance (B211–B311 = negative, B312 = –5, B411 = –5, B412 = 0): </a:t>
            </a:r>
            <a:r>
              <a:rPr b="1" lang="en" sz="1300">
                <a:solidFill>
                  <a:schemeClr val="lt1"/>
                </a:solidFill>
                <a:latin typeface="Lato"/>
                <a:ea typeface="Lato"/>
                <a:cs typeface="Lato"/>
                <a:sym typeface="Lato"/>
              </a:rPr>
              <a:t>No rebalancing, audits, or structural bias reviews</a:t>
            </a:r>
            <a:r>
              <a:rPr lang="en" sz="1300">
                <a:solidFill>
                  <a:schemeClr val="lt1"/>
                </a:solidFill>
                <a:latin typeface="Lato"/>
                <a:ea typeface="Lato"/>
                <a:cs typeface="Lato"/>
                <a:sym typeface="Lato"/>
              </a:rPr>
              <a:t>; transparency limited to </a:t>
            </a:r>
            <a:r>
              <a:rPr b="1" lang="en" sz="1300">
                <a:solidFill>
                  <a:schemeClr val="lt1"/>
                </a:solidFill>
                <a:latin typeface="Lato"/>
                <a:ea typeface="Lato"/>
                <a:cs typeface="Lato"/>
                <a:sym typeface="Lato"/>
              </a:rPr>
              <a:t>basic</a:t>
            </a:r>
            <a:r>
              <a:rPr lang="en" sz="1300">
                <a:solidFill>
                  <a:schemeClr val="lt1"/>
                </a:solidFill>
                <a:latin typeface="Lato"/>
                <a:ea typeface="Lato"/>
                <a:cs typeface="Lato"/>
                <a:sym typeface="Lato"/>
              </a:rPr>
              <a:t> column descriptions.</a:t>
            </a:r>
            <a:endParaRPr sz="1300">
              <a:solidFill>
                <a:schemeClr val="lt1"/>
              </a:solidFill>
              <a:latin typeface="Lato"/>
              <a:ea typeface="Lato"/>
              <a:cs typeface="Lato"/>
              <a:sym typeface="Lato"/>
            </a:endParaRPr>
          </a:p>
        </p:txBody>
      </p:sp>
      <p:sp>
        <p:nvSpPr>
          <p:cNvPr id="211" name="Google Shape;211;p19"/>
          <p:cNvSpPr/>
          <p:nvPr/>
        </p:nvSpPr>
        <p:spPr>
          <a:xfrm rot="5400000">
            <a:off x="4461850" y="2782525"/>
            <a:ext cx="2941200" cy="581400"/>
          </a:xfrm>
          <a:prstGeom prst="trapezoid">
            <a:avLst>
              <a:gd fmla="val 25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ph type="title"/>
          </p:nvPr>
        </p:nvSpPr>
        <p:spPr>
          <a:xfrm>
            <a:off x="1297500" y="6534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Interpretation</a:t>
            </a:r>
            <a:endParaRPr b="1"/>
          </a:p>
        </p:txBody>
      </p:sp>
      <p:sp>
        <p:nvSpPr>
          <p:cNvPr id="217" name="Google Shape;217;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dataset shows significant fairness weaknesses across almost all System Card+ Fairness–Data areas, with consistently negative scores in sampling integrity, bias detection, bias mitigation, and data rights.</a:t>
            </a:r>
            <a:endParaRPr/>
          </a:p>
          <a:p>
            <a:pPr indent="-311150" lvl="0" marL="457200" rtl="0" algn="l">
              <a:spcBef>
                <a:spcPts val="0"/>
              </a:spcBef>
              <a:spcAft>
                <a:spcPts val="0"/>
              </a:spcAft>
              <a:buSzPts val="1300"/>
              <a:buChar char="●"/>
            </a:pPr>
            <a:r>
              <a:rPr lang="en"/>
              <a:t>Most deficiencies stem from a lack of documentation: no sampling frame, no provenance details, no fairness metrics, no assessment of subgroup impacts, and no evidence of governance or auditing mechanisms.</a:t>
            </a:r>
            <a:endParaRPr/>
          </a:p>
          <a:p>
            <a:pPr indent="-311150" lvl="0" marL="457200" rtl="0" algn="l">
              <a:spcBef>
                <a:spcPts val="0"/>
              </a:spcBef>
              <a:spcAft>
                <a:spcPts val="0"/>
              </a:spcAft>
              <a:buSzPts val="1300"/>
              <a:buChar char="●"/>
            </a:pPr>
            <a:r>
              <a:rPr lang="en"/>
              <a:t>Although the dataset is structurally clean and easy to analyze, its limited transparency and absence of consent or mitigation practices raise substantial fairness risks for downstream HR applications.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ph type="title"/>
          </p:nvPr>
        </p:nvSpPr>
        <p:spPr>
          <a:xfrm>
            <a:off x="1297500" y="6534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Recommendations</a:t>
            </a:r>
            <a:endParaRPr b="1"/>
          </a:p>
        </p:txBody>
      </p:sp>
      <p:sp>
        <p:nvSpPr>
          <p:cNvPr id="223" name="Google Shape;223;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Improve transparency and provenance by documenting dataset origin, sampling rules, processing history, and known limitations.</a:t>
            </a:r>
            <a:endParaRPr/>
          </a:p>
          <a:p>
            <a:pPr indent="-311150" lvl="0" marL="457200" rtl="0" algn="l">
              <a:spcBef>
                <a:spcPts val="0"/>
              </a:spcBef>
              <a:spcAft>
                <a:spcPts val="0"/>
              </a:spcAft>
              <a:buSzPts val="1300"/>
              <a:buChar char="●"/>
            </a:pPr>
            <a:r>
              <a:rPr lang="en"/>
              <a:t>Conduct structured bias detection by reporting representation balance, outcome disparities, and missingness patterns across demographic groups.</a:t>
            </a:r>
            <a:endParaRPr/>
          </a:p>
          <a:p>
            <a:pPr indent="-311150" lvl="0" marL="457200" rtl="0" algn="l">
              <a:spcBef>
                <a:spcPts val="0"/>
              </a:spcBef>
              <a:spcAft>
                <a:spcPts val="0"/>
              </a:spcAft>
              <a:buSzPts val="1300"/>
              <a:buChar char="●"/>
            </a:pPr>
            <a:r>
              <a:rPr lang="en"/>
              <a:t>Develop fairness metrics and mitigation procedures, including rebalancing options, bias-aware preprocessing, and subgroup sensitivity analyses.</a:t>
            </a:r>
            <a:endParaRPr/>
          </a:p>
          <a:p>
            <a:pPr indent="-311150" lvl="0" marL="457200" rtl="0" algn="l">
              <a:spcBef>
                <a:spcPts val="0"/>
              </a:spcBef>
              <a:spcAft>
                <a:spcPts val="0"/>
              </a:spcAft>
              <a:buSzPts val="1300"/>
              <a:buChar char="●"/>
            </a:pPr>
            <a:r>
              <a:rPr lang="en"/>
              <a:t>Establish governance and audit processes, such as third-party review, ethical compliance checks, and ongoing monitoring of bias over time.</a:t>
            </a:r>
            <a:endParaRPr/>
          </a:p>
          <a:p>
            <a:pPr indent="-311150" lvl="0" marL="457200" rtl="0" algn="l">
              <a:spcBef>
                <a:spcPts val="0"/>
              </a:spcBef>
              <a:spcAft>
                <a:spcPts val="0"/>
              </a:spcAft>
              <a:buSzPts val="1300"/>
              <a:buChar char="●"/>
            </a:pPr>
            <a:r>
              <a:rPr lang="en"/>
              <a:t>Include user-rights documentation detailing consent processes, data retention policies, and options for data access or withdrawal.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txBox="1"/>
          <p:nvPr>
            <p:ph type="title"/>
          </p:nvPr>
        </p:nvSpPr>
        <p:spPr>
          <a:xfrm>
            <a:off x="1297500" y="6534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Conclusion</a:t>
            </a:r>
            <a:endParaRPr b="1"/>
          </a:p>
        </p:txBody>
      </p:sp>
      <p:sp>
        <p:nvSpPr>
          <p:cNvPr id="229" name="Google Shape;229;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Using the System Card+ Fairness–Data framework, our evaluation demonstrates that the dataset </a:t>
            </a:r>
            <a:r>
              <a:rPr b="1" lang="en"/>
              <a:t>does not meet the fairness expectations</a:t>
            </a:r>
            <a:r>
              <a:rPr lang="en"/>
              <a:t> required for responsible operational deployment</a:t>
            </a:r>
            <a:endParaRPr/>
          </a:p>
          <a:p>
            <a:pPr indent="-311150" lvl="0" marL="457200" rtl="0" algn="l">
              <a:spcBef>
                <a:spcPts val="0"/>
              </a:spcBef>
              <a:spcAft>
                <a:spcPts val="0"/>
              </a:spcAft>
              <a:buSzPts val="1300"/>
              <a:buChar char="●"/>
            </a:pPr>
            <a:r>
              <a:rPr lang="en"/>
              <a:t>Across B111–B412, the dataset performed inconsistently: early sections such as Equity (B111) and Bias Detection (B112) showed partial strengths in metadata clarity and interpretability, while later sections—including Sampling Integrity (B113), Fairness Metrics (B114), Mitigation (B311–B312), and Assurance (B411–B412)revealed substantial gaps</a:t>
            </a:r>
            <a:r>
              <a:rPr lang="en"/>
              <a:t> in transparency, governance, documentation, and user-rights protections.</a:t>
            </a:r>
            <a:endParaRPr/>
          </a:p>
          <a:p>
            <a:pPr indent="-311150" lvl="0" marL="457200" rtl="0" algn="l">
              <a:spcBef>
                <a:spcPts val="0"/>
              </a:spcBef>
              <a:spcAft>
                <a:spcPts val="0"/>
              </a:spcAft>
              <a:buSzPts val="1300"/>
              <a:buChar char="●"/>
            </a:pPr>
            <a:r>
              <a:rPr lang="en"/>
              <a:t>O</a:t>
            </a:r>
            <a:r>
              <a:rPr lang="en"/>
              <a:t>ur project demonstrates how structured fairness evaluation at the data layer provides insight into the systemic responsibilities required for ethical AI development</a:t>
            </a:r>
            <a:endParaRPr/>
          </a:p>
          <a:p>
            <a:pPr indent="-311150" lvl="0" marL="457200" rtl="0" algn="l">
              <a:spcBef>
                <a:spcPts val="0"/>
              </a:spcBef>
              <a:spcAft>
                <a:spcPts val="0"/>
              </a:spcAft>
              <a:buSzPts val="1300"/>
              <a:buChar char="●"/>
            </a:pPr>
            <a:r>
              <a:rPr lang="en"/>
              <a:t>Holistic assessment underscores the importance of transparent documentation, fairness-aware data practices, and governance mechanisms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txBox="1"/>
          <p:nvPr>
            <p:ph type="title"/>
          </p:nvPr>
        </p:nvSpPr>
        <p:spPr>
          <a:xfrm>
            <a:off x="689900" y="1270950"/>
            <a:ext cx="4776000" cy="130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5000"/>
              <a:t>Thank you!</a:t>
            </a:r>
            <a:endParaRPr sz="5000"/>
          </a:p>
        </p:txBody>
      </p:sp>
      <p:sp>
        <p:nvSpPr>
          <p:cNvPr id="235" name="Google Shape;235;p2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700"/>
              <a:t>Questions? </a:t>
            </a:r>
            <a:endParaRPr b="1" sz="17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